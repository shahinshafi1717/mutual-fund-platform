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AUM by Fund House (₹ Lakh Crore)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D3C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9F6E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CFBF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0E9E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SBI</c:v>
                  </c:pt>
                  <c:pt idx="1">
                    <c:v>ICICI</c:v>
                  </c:pt>
                  <c:pt idx="2">
                    <c:v>HDFC</c:v>
                  </c:pt>
                  <c:pt idx="3">
                    <c:v>Nippon</c:v>
                  </c:pt>
                  <c:pt idx="4">
                    <c:v>Kotak</c:v>
                  </c:pt>
                  <c:pt idx="5">
                    <c:v>ABSL</c:v>
                  </c:pt>
                  <c:pt idx="6">
                    <c:v>UTI</c:v>
                  </c:pt>
                  <c:pt idx="7">
                    <c:v>Axis</c:v>
                  </c:pt>
                  <c:pt idx="8">
                    <c:v>Mirae</c:v>
                  </c:pt>
                  <c:pt idx="9">
                    <c:v>DSP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12.5</c:v>
                </c:pt>
                <c:pt idx="1">
                  <c:v>10.74</c:v>
                </c:pt>
                <c:pt idx="2">
                  <c:v>9.3</c:v>
                </c:pt>
                <c:pt idx="3">
                  <c:v>7</c:v>
                </c:pt>
                <c:pt idx="4">
                  <c:v>5.8</c:v>
                </c:pt>
                <c:pt idx="5">
                  <c:v>4.6</c:v>
                </c:pt>
                <c:pt idx="6">
                  <c:v>4.1</c:v>
                </c:pt>
                <c:pt idx="7">
                  <c:v>3.5</c:v>
                </c:pt>
                <c:pt idx="8">
                  <c:v>2.9</c:v>
                </c:pt>
                <c:pt idx="9">
                  <c:v>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SIP Yearly Avg (₹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12453</c:v>
                </c:pt>
                <c:pt idx="1">
                  <c:v>15397</c:v>
                </c:pt>
                <c:pt idx="2">
                  <c:v>22482</c:v>
                </c:pt>
                <c:pt idx="3">
                  <c:v>27978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SIP Inflows (₹ Cr) — Jan 2022 to Dec 2025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₹Cr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Jan'22</c:v>
                  </c:pt>
                  <c:pt idx="1">
                    <c:v>Jul'22</c:v>
                  </c:pt>
                  <c:pt idx="2">
                    <c:v>Jan'23</c:v>
                  </c:pt>
                  <c:pt idx="3">
                    <c:v>Jul'23</c:v>
                  </c:pt>
                  <c:pt idx="4">
                    <c:v>Jan'24</c:v>
                  </c:pt>
                  <c:pt idx="5">
                    <c:v>Jul'24</c:v>
                  </c:pt>
                  <c:pt idx="6">
                    <c:v>Jan'25</c:v>
                  </c:pt>
                  <c:pt idx="7">
                    <c:v>Jul'25</c:v>
                  </c:pt>
                  <c:pt idx="8">
                    <c:v>Dec'25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11517</c:v>
                </c:pt>
                <c:pt idx="1">
                  <c:v>12693</c:v>
                </c:pt>
                <c:pt idx="2">
                  <c:v>14000</c:v>
                </c:pt>
                <c:pt idx="3">
                  <c:v>17000</c:v>
                </c:pt>
                <c:pt idx="4">
                  <c:v>19000</c:v>
                </c:pt>
                <c:pt idx="5">
                  <c:v>23322</c:v>
                </c:pt>
                <c:pt idx="6">
                  <c:v>26000</c:v>
                </c:pt>
                <c:pt idx="7">
                  <c:v>29000</c:v>
                </c:pt>
                <c:pt idx="8">
                  <c:v>31002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Investment by Age Group (₹Cr)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(₹Cr)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64</c:v>
                </c:pt>
                <c:pt idx="2">
                  <c:v>52</c:v>
                </c:pt>
                <c:pt idx="3">
                  <c:v>31</c:v>
                </c:pt>
                <c:pt idx="4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Folio Mix by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Folios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F9A825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Equity 75%</c:v>
                </c:pt>
                <c:pt idx="1">
                  <c:v>Debt 12%</c:v>
                </c:pt>
                <c:pt idx="2">
                  <c:v>Hybrid 8%</c:v>
                </c:pt>
                <c:pt idx="3">
                  <c:v>SoF 3%</c:v>
                </c:pt>
                <c:pt idx="4">
                  <c:v>Others 2%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75</c:v>
                </c:pt>
                <c:pt idx="1">
                  <c:v>12</c:v>
                </c:pt>
                <c:pt idx="2">
                  <c:v>8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Composite Score (0-100)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ICICI Midcap</c:v>
                  </c:pt>
                  <c:pt idx="1">
                    <c:v>Axis Midcap</c:v>
                  </c:pt>
                  <c:pt idx="2">
                    <c:v>HDFC MidCap</c:v>
                  </c:pt>
                  <c:pt idx="3">
                    <c:v>Mirae LC</c:v>
                  </c:pt>
                  <c:pt idx="4">
                    <c:v>Kotak FC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85.1</c:v>
                </c:pt>
                <c:pt idx="1">
                  <c:v>82</c:v>
                </c:pt>
                <c:pt idx="2">
                  <c:v>80.5</c:v>
                </c:pt>
                <c:pt idx="3">
                  <c:v>80</c:v>
                </c:pt>
                <c:pt idx="4">
                  <c:v>78.8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 and the project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gap in the market and what this project set out to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7-day structure and tech stack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SBI dominates with 19.9% market share. SIP inflows tripled over 4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pipeline: raw CSVs → ETL cleaning → SQLite → analytics →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most impactful findings from the 13-chart EDA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SIP trend and demographic distributions.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Scorecard weights: 30% 3yr return, 25% Sharpe, 20% Alpha, 15% expense, 10% drawdown.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97.8% SIP discontinuity rate is alarming. HHI reveals concentration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both deliverables — Power BI .pbix and Streamlit app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tech stack layer by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 Share GitHub link.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</a:rPr>
              <a:t>A Full-Stack Data Analytics Capstone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Bluestock Fintech  |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Shahin Shafi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|  June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 •  SQLite  •  Power BI  • 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8E1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Retail investors lack transparent, comparable mutual fund data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682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SIP discontinuity is high — no early warning system exists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No single platform unifies NAV, risk metrics &amp; demographics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AMCs publish data in 10+ separate formats — hard to analyse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77724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Project Objectives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✓  Build end-to-end ETL pipeline from 10 raw datasets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0" y="1682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✓  Create normalised SQLite star schema (107K+ rows)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2084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✓  Compute CAGR, Sharpe, Sortino, VaR, CVaR, HHI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2487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✓  Deliver interactive Power BI + Streamlit dashboards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8595360" cy="1691640"/>
          </a:xfrm>
          <a:prstGeom prst="roundRect">
            <a:avLst>
              <a:gd name="adj" fmla="val 4324"/>
            </a:avLst>
          </a:prstGeom>
          <a:solidFill>
            <a:srgbClr val="F0F9FC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Project Scope at a Glance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40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Mutual Funds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12848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10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212848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AMC Sources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77056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77056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Day Build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41264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107,779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41264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DB Rows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05472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11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05472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Tables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10 Datasets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46K NAV rows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32K transactions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8K benchmark days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11 DB Tables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68880" y="1444752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Star schema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SQLite 5.27 MB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107K+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15+ Charts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1444752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Matplotlib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Seaborn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Plotly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75120" y="8229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9A825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4-Page BI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1444752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Power BI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Streamlit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Interactive slicers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7-Day Development Roadmap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401568"/>
            <a:ext cx="1097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Ingestion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72768" y="3383280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572768" y="3401568"/>
            <a:ext cx="1097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SQL+ETL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79776" y="3383280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2779776" y="3401568"/>
            <a:ext cx="1097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EDA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86784" y="3383280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3986784" y="3401568"/>
            <a:ext cx="1097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Metrics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93792" y="3383280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193792" y="3401568"/>
            <a:ext cx="1097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Dashboard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3383280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401568"/>
            <a:ext cx="1097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Advanced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07808" y="3383280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607808" y="3401568"/>
            <a:ext cx="1097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Report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Industry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86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₹62.7L Cr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Industry AUM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86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</a:rPr>
              <a:t>₹31,002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Monthly SIP (ATH)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86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26.12 Cr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Industry Folios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77724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86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5"/>
                </a:solidFill>
              </a:rPr>
              <a:t>+169%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SIP Growth (4yr)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1874520"/>
          <a:ext cx="53035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5760720" y="1874520"/>
          <a:ext cx="3200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ETL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9A825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CSVs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files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32588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9144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914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ETL Clean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etl_pipeline.py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32588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9144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914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SQLite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 tables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32588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9144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914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Analytics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132588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9144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53935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914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96596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Data Quality Checks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246888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Forward-fill NAV: 18,320 weekend/holiday gaps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Validate AMFI codes across all tables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Remove duplicates and fix encoding issues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Normalise benchmark name strings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196596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Star Schema 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246888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dim_fund (40 rows) — primary dimension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dim_date (1,826 rows) — full date spine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fact_nav (64,320 rows) — core daily prices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fact_transactions (32,778 rows) — activity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96596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Key Metrics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246888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107,779 total rows across 11 tables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5.27 MB SQLite database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40 funds × 1,607 trading days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10 AMCs, 5 risk 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3268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32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914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SBI dominates AUM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24358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₹12.5L Cr — 19.9% market share, nearly double ICICI Prudential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93268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932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30952" y="914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SIP ATH December 2025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30952" y="124358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₹31,002 Cr — 169% growth from ₹11,517 Cr in January 2022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3500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Folios doubled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66090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13.26 Cr → 26.12 Cr in 4 years. Equity drives 75%+ of growth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3500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30952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Banking sector dominates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30952" y="266090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₹62,840 Cr across 30 funds — 20% of all equity portfolio weight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76732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3767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26-35 age group leads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" y="407822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₹64 Cr invested — 18% of total transaction volume by value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376732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3767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30952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Large Cap funds correlated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30952" y="407822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Pairwise correlation 0.85–0.97 — minimal diversification benefit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Charts &amp; Distributions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760720" y="777240"/>
          <a:ext cx="3108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274320" y="3429000"/>
          <a:ext cx="38404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297680" y="3429000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448056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Key EDA Insights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480560" y="385876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▸  Punjab leads state-wise: ₹315.8 Cr  |  Tamil Nadu: ₹315.2 Cr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4480560" y="420624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▸  Liquid category: ₹34,000–42,000 Cr/month — institutional-dominated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480560" y="455371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▸  Male investors 66.6% vs female 33.4% — gender gap persists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Risk &amp; Return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Top 5 Funds by Composite Scorecard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5029200" cy="22860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1005840"/>
                <a:gridCol w="82296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3yr CAGR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ICICI Pru Midcap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85.1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31.8%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Axis Midcap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82.0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HDFC Mid-Cap Opp.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Mirae Asset LargeCap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34.0%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Kotak Flexicap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78.8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Formulae Used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37490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Sharpe = (Rp - Rf) / σ × √252   |   Rf = 6.5%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Sortino = (Rp - Rf) / σ_down × √252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= OLS intercept × 252 (vs benchmark)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DD = min(NAV_t / peak_t - 1)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0" y="777240"/>
          <a:ext cx="3383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 — Risk &amp; Investor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VaR &amp; CVaR (95%)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Small Cap VaR: -2.39%/day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Liquid VaR: -0.02%/day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100x risk difference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CVaR shows tail severity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9144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9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914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SIP Continuity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1,362 eligible investors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1682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97.8% are at-risk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993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Median gap: 64.7 days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Only 2.2% consistent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1752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017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Cohort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2024: 4,624 investors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2024: ₹21.5 Cr invested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096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2025: ₹13,505 avg SIP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407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Growing ticket sizes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01752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6A1B9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017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HHI Concentration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Axis Bluechip: 0.206 HHI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IT sector dominant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4096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High = sector-specific risk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4407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▸  Diversify across categories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645152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E3F2FD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6634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Fund Recommender:  Low Risk → ICICI Liquid (Sharpe 7.68)   |   Moderate → HDFC Top 100 (1.06, 14.8% CAGR)   |   High → Kotak Midcap (0.96, 18.2%)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Power BI + Streamlit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95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Page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011680" cy="21031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61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Industry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6002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4 KPI cards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198424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AUM clustered bar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2368296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SIP line chart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" y="2752344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2 slicers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04872" y="7772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404872" y="795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Page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04872" y="1188720"/>
            <a:ext cx="2011680" cy="21031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96312" y="1261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Fund Performance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16002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Risk-return scatter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198424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Sortable fund table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4600" y="2368296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3 slicers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81144" y="7772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4581144" y="795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Page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81144" y="1188720"/>
            <a:ext cx="2011680" cy="21031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72584" y="1261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Investor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90872" y="16002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State bar chart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90872" y="198424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Age/gender split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90872" y="2368296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Donut: tx types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90872" y="2752344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3 slicers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57416" y="7772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6757416" y="795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Page 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57416" y="1188720"/>
            <a:ext cx="2011680" cy="21031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48856" y="1261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SIP &amp; Market Trends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67144" y="16002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SIP trend line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67144" y="198424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Category bar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67144" y="2368296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Category donut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67144" y="2752344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• 2 slicers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474720"/>
            <a:ext cx="8686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148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Bonus B2 — Streamlit Web App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" y="391363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Built as an alternative Python-based dashboard with the same 4 pages.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Runs on localhost:8501 — fully interactive, zero Power BI license needed.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3566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Technologies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391363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Power BI  •  Streamlit  •  Plotly  •  Pandas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Interactive slicers on every page  •  Live data from SQLite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 &amp;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046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804672"/>
            <a:ext cx="6720840" cy="512064"/>
          </a:xfrm>
          <a:prstGeom prst="roundRect">
            <a:avLst>
              <a:gd name="adj" fmla="val 10714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804672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AMFI CSVs  •  mfapi.in (live NAV)  •  NSE/BSE Benchmarks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8132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Ingestion &amp; ETL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1481328"/>
            <a:ext cx="6720840" cy="512064"/>
          </a:xfrm>
          <a:prstGeom prst="roundRect">
            <a:avLst>
              <a:gd name="adj" fmla="val 10714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1481328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Python 3.14  •  Pandas  •  pathlib  •  etl_pipeline.py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57984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15798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2157984"/>
            <a:ext cx="6720840" cy="512064"/>
          </a:xfrm>
          <a:prstGeom prst="roundRect">
            <a:avLst>
              <a:gd name="adj" fmla="val 10714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2157984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SQLite 3 (5.27 MB)  •  Star Schema  •  11 tables  •  107K rows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83464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Analytics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48840" y="2834640"/>
            <a:ext cx="6720840" cy="512064"/>
          </a:xfrm>
          <a:prstGeom prst="roundRect">
            <a:avLst>
              <a:gd name="adj" fmla="val 10714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0" y="2834640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NumPy  •  SciPy (OLS)  •  Matplotlib  •  Seaborn  •  Plotly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11296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5112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Visualisation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48840" y="3511296"/>
            <a:ext cx="6720840" cy="512064"/>
          </a:xfrm>
          <a:prstGeom prst="roundRect">
            <a:avLst>
              <a:gd name="adj" fmla="val 10714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86000" y="3511296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Power BI Desktop (.pbix)  •  Streamlit (Python web app)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87952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1879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Version Control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48840" y="4187952"/>
            <a:ext cx="6720840" cy="512064"/>
          </a:xfrm>
          <a:prstGeom prst="roundRect">
            <a:avLst>
              <a:gd name="adj" fmla="val 10714"/>
            </a:avLst>
          </a:prstGeom>
          <a:solidFill>
            <a:srgbClr val="F8FA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0" y="4187952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Git  •  GitHub  •  v1.0 tag  •  github.com/Shahinshafi1717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Delivered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822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ETL pipeline — 107,779 rows across 11 SQLite tables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17957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15+ EDA charts: NAV trends, demographics, sector allocation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5361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Risk metrics: CAGR, Sharpe, Sortino, Alpha, Beta, VaR, CVaR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8928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Power BI dashboard — 4 pages, 10+ slicers + Streamlit Bonus B2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24942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Advanced analytics: VaR, SIP cohort, HHI, recommender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852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4381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Bluestock Fintech Capstone  |  June 2026  |  Shahin Shafi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58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github.com/Shahinshafi1717/mutual-fund-platform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subject>PptxGenJS Presentation</dc:subject>
  <dc:creator>Shahin Shafi</dc:creator>
  <cp:lastModifiedBy>Shahin Shafi</cp:lastModifiedBy>
  <cp:revision>1</cp:revision>
  <dcterms:created xsi:type="dcterms:W3CDTF">2026-06-12T20:34:51Z</dcterms:created>
  <dcterms:modified xsi:type="dcterms:W3CDTF">2026-06-12T20:34:51Z</dcterms:modified>
</cp:coreProperties>
</file>